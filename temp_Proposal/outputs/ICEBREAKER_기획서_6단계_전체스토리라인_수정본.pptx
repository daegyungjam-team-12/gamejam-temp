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ba9fd91157400c" /><Relationship Type="http://schemas.openxmlformats.org/officeDocument/2006/relationships/extended-properties" Target="/docProps/app.xml" Id="Rb0b811ffb4e3470e" /><Relationship Type="http://schemas.openxmlformats.org/officeDocument/2006/relationships/officeDocument" Target="/ppt/presentation.xml" Id="R869ddd2d39b64f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ae25c0013e48ee"/>
  </p:sldMasterIdLst>
  <p:notesMasterIdLst>
    <p:notesMasterId xmlns:r="http://schemas.openxmlformats.org/officeDocument/2006/relationships" r:id="R5c54f8c587c646e3"/>
  </p:notesMasterIdLst>
  <p:sldIdLst>
    <p:sldId xmlns:r="http://schemas.openxmlformats.org/officeDocument/2006/relationships" id="256" r:id="R7b010329119e42b6"/>
    <p:sldId xmlns:r="http://schemas.openxmlformats.org/officeDocument/2006/relationships" id="257" r:id="Rfab29475b8fe4b1f"/>
    <p:sldId xmlns:r="http://schemas.openxmlformats.org/officeDocument/2006/relationships" id="258" r:id="R3496703e425d47b2"/>
    <p:sldId xmlns:r="http://schemas.openxmlformats.org/officeDocument/2006/relationships" id="259" r:id="R88670a17b23240ae"/>
    <p:sldId xmlns:r="http://schemas.openxmlformats.org/officeDocument/2006/relationships" id="260" r:id="R3b60b7cec2eb41b7"/>
    <p:sldId xmlns:r="http://schemas.openxmlformats.org/officeDocument/2006/relationships" id="261" r:id="Rfca9d99b89e8470e"/>
    <p:sldId xmlns:r="http://schemas.openxmlformats.org/officeDocument/2006/relationships" id="262" r:id="Rb202492ea7ed4c93"/>
    <p:sldId xmlns:r="http://schemas.openxmlformats.org/officeDocument/2006/relationships" id="263" r:id="R29b48d8808fd4f06"/>
    <p:sldId xmlns:r="http://schemas.openxmlformats.org/officeDocument/2006/relationships" id="264" r:id="R32928ce0800a4288"/>
    <p:sldId xmlns:r="http://schemas.openxmlformats.org/officeDocument/2006/relationships" id="265" r:id="R4e5e9a21c8d44617"/>
    <p:sldId xmlns:r="http://schemas.openxmlformats.org/officeDocument/2006/relationships" id="266" r:id="Rc6a877ccbfed41d8"/>
    <p:sldId xmlns:r="http://schemas.openxmlformats.org/officeDocument/2006/relationships" id="267" r:id="R633470f5a1ad462f"/>
    <p:sldId xmlns:r="http://schemas.openxmlformats.org/officeDocument/2006/relationships" id="268" r:id="Rd91c10ac05fc4f20"/>
    <p:sldId xmlns:r="http://schemas.openxmlformats.org/officeDocument/2006/relationships" id="269" r:id="R1d062a07abaa4f7d"/>
    <p:sldId xmlns:r="http://schemas.openxmlformats.org/officeDocument/2006/relationships" id="270" r:id="R54e7cea09e4e430d"/>
    <p:sldId xmlns:r="http://schemas.openxmlformats.org/officeDocument/2006/relationships" id="271" r:id="Rd2165b60db754af2"/>
    <p:sldId xmlns:r="http://schemas.openxmlformats.org/officeDocument/2006/relationships" id="272" r:id="Rad9478158c084f87"/>
    <p:sldId xmlns:r="http://schemas.openxmlformats.org/officeDocument/2006/relationships" id="273" r:id="R8022b432616948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3d098c9d54f55" /><Relationship Type="http://schemas.openxmlformats.org/officeDocument/2006/relationships/slideMaster" Target="/ppt/slideMasters/slideMaster1.xml" Id="Ra7ae25c0013e48ee" /><Relationship Type="http://schemas.openxmlformats.org/officeDocument/2006/relationships/notesMaster" Target="/ppt/notesMasters/notesMaster1.xml" Id="R5c54f8c587c646e3" /><Relationship Type="http://schemas.openxmlformats.org/officeDocument/2006/relationships/presProps" Target="/ppt/presProps.xml" Id="Re1b1b5453d014c2b" /><Relationship Type="http://schemas.openxmlformats.org/officeDocument/2006/relationships/tableStyles" Target="/ppt/tableStyles.xml" Id="Rc61d1fcf6fba4364" /><Relationship Type="http://schemas.openxmlformats.org/officeDocument/2006/relationships/slide" Target="/ppt/slides/slide1.xml" Id="R7b010329119e42b6" /><Relationship Type="http://schemas.openxmlformats.org/officeDocument/2006/relationships/slide" Target="/ppt/slides/slide2.xml" Id="Rfab29475b8fe4b1f" /><Relationship Type="http://schemas.openxmlformats.org/officeDocument/2006/relationships/slide" Target="/ppt/slides/slide3.xml" Id="R3496703e425d47b2" /><Relationship Type="http://schemas.openxmlformats.org/officeDocument/2006/relationships/slide" Target="/ppt/slides/slide4.xml" Id="R88670a17b23240ae" /><Relationship Type="http://schemas.openxmlformats.org/officeDocument/2006/relationships/slide" Target="/ppt/slides/slide5.xml" Id="R3b60b7cec2eb41b7" /><Relationship Type="http://schemas.openxmlformats.org/officeDocument/2006/relationships/slide" Target="/ppt/slides/slide6.xml" Id="Rfca9d99b89e8470e" /><Relationship Type="http://schemas.openxmlformats.org/officeDocument/2006/relationships/slide" Target="/ppt/slides/slide7.xml" Id="Rb202492ea7ed4c93" /><Relationship Type="http://schemas.openxmlformats.org/officeDocument/2006/relationships/slide" Target="/ppt/slides/slide8.xml" Id="R29b48d8808fd4f06" /><Relationship Type="http://schemas.openxmlformats.org/officeDocument/2006/relationships/slide" Target="/ppt/slides/slide9.xml" Id="R32928ce0800a4288" /><Relationship Type="http://schemas.openxmlformats.org/officeDocument/2006/relationships/slide" Target="/ppt/slides/slide10.xml" Id="R4e5e9a21c8d44617" /><Relationship Type="http://schemas.openxmlformats.org/officeDocument/2006/relationships/slide" Target="/ppt/slides/slide11.xml" Id="Rc6a877ccbfed41d8" /><Relationship Type="http://schemas.openxmlformats.org/officeDocument/2006/relationships/slide" Target="/ppt/slides/slide12.xml" Id="R633470f5a1ad462f" /><Relationship Type="http://schemas.openxmlformats.org/officeDocument/2006/relationships/slide" Target="/ppt/slides/slide13.xml" Id="Rd91c10ac05fc4f20" /><Relationship Type="http://schemas.openxmlformats.org/officeDocument/2006/relationships/slide" Target="/ppt/slides/slide14.xml" Id="R1d062a07abaa4f7d" /><Relationship Type="http://schemas.openxmlformats.org/officeDocument/2006/relationships/slide" Target="/ppt/slides/slide15.xml" Id="R54e7cea09e4e430d" /><Relationship Type="http://schemas.openxmlformats.org/officeDocument/2006/relationships/slide" Target="/ppt/slides/slide16.xml" Id="Rd2165b60db754af2" /><Relationship Type="http://schemas.openxmlformats.org/officeDocument/2006/relationships/slide" Target="/ppt/slides/slide17.xml" Id="Rad9478158c084f87" /><Relationship Type="http://schemas.openxmlformats.org/officeDocument/2006/relationships/slide" Target="/ppt/slides/slide18.xml" Id="R8022b4326169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fa3c30e6945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79efe7c4843ea" /><Relationship Type="http://schemas.openxmlformats.org/officeDocument/2006/relationships/notesMaster" Target="/ppt/notesMasters/notesMaster1.xml" Id="Ra36eb1c6470940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b61cde951a4219" /><Relationship Type="http://schemas.openxmlformats.org/officeDocument/2006/relationships/notesMaster" Target="/ppt/notesMasters/notesMaster1.xml" Id="R850f9d584e3d4f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22d9df6e64f93" /><Relationship Type="http://schemas.openxmlformats.org/officeDocument/2006/relationships/notesMaster" Target="/ppt/notesMasters/notesMaster1.xml" Id="Rb4cb4c1975014f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25ec1520bc46be" /><Relationship Type="http://schemas.openxmlformats.org/officeDocument/2006/relationships/notesMaster" Target="/ppt/notesMasters/notesMaster1.xml" Id="Rd4d51dd6eba1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5534cd15454297" /><Relationship Type="http://schemas.openxmlformats.org/officeDocument/2006/relationships/notesMaster" Target="/ppt/notesMasters/notesMaster1.xml" Id="Rf72f8e7b5e4046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8f1f483e634b18" /><Relationship Type="http://schemas.openxmlformats.org/officeDocument/2006/relationships/notesMaster" Target="/ppt/notesMasters/notesMaster1.xml" Id="R1870e6fecd3f4b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da829e7b94cbd" /><Relationship Type="http://schemas.openxmlformats.org/officeDocument/2006/relationships/notesMaster" Target="/ppt/notesMasters/notesMaster1.xml" Id="R57d55e1f745e44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0befa24b584468" /><Relationship Type="http://schemas.openxmlformats.org/officeDocument/2006/relationships/notesMaster" Target="/ppt/notesMasters/notesMaster1.xml" Id="R2fae003d8ed742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d3952bd9054e0f" /><Relationship Type="http://schemas.openxmlformats.org/officeDocument/2006/relationships/notesMaster" Target="/ppt/notesMasters/notesMaster1.xml" Id="R30728b5afe82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de9d9f096b412d" /><Relationship Type="http://schemas.openxmlformats.org/officeDocument/2006/relationships/notesMaster" Target="/ppt/notesMasters/notesMaster1.xml" Id="R8ad9018805d64e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c87edd87524dac" /><Relationship Type="http://schemas.openxmlformats.org/officeDocument/2006/relationships/notesMaster" Target="/ppt/notesMasters/notesMaster1.xml" Id="Rb5925972a4c44d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88f7496c9040f6" /><Relationship Type="http://schemas.openxmlformats.org/officeDocument/2006/relationships/notesMaster" Target="/ppt/notesMasters/notesMaster1.xml" Id="R3503d3aa4b0c41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634b01efe24d67" /><Relationship Type="http://schemas.openxmlformats.org/officeDocument/2006/relationships/notesMaster" Target="/ppt/notesMasters/notesMaster1.xml" Id="Ra6e956d61c7245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26981928a14113" /><Relationship Type="http://schemas.openxmlformats.org/officeDocument/2006/relationships/notesMaster" Target="/ppt/notesMasters/notesMaster1.xml" Id="R8c6fc25408564a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8b3943aac0437b" /><Relationship Type="http://schemas.openxmlformats.org/officeDocument/2006/relationships/notesMaster" Target="/ppt/notesMasters/notesMaster1.xml" Id="R1d62494fe3f648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1d7859ec0f409e" /><Relationship Type="http://schemas.openxmlformats.org/officeDocument/2006/relationships/notesMaster" Target="/ppt/notesMasters/notesMaster1.xml" Id="R8868122f3d564f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77863c4e184cf0" /><Relationship Type="http://schemas.openxmlformats.org/officeDocument/2006/relationships/notesMaster" Target="/ppt/notesMasters/notesMaster1.xml" Id="R857942a33f9a41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dd1f1b2ae146c6" /><Relationship Type="http://schemas.openxmlformats.org/officeDocument/2006/relationships/notesMaster" Target="/ppt/notesMasters/notesMaster1.xml" Id="R864ee0d25a26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이 덱의 결론을 먼저 말한다. ICEBREAKER는 얼음을 깨는 게임이면서, 끊어진 항로를 다시 잇는 게임이다.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팀이 기억해야 할 게임 정의를 한 장에 고정한다. 세부 논의가 흔들리면 이 장으로 돌아온다.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세계관은 설명하지 않고 화면으로 전달한다. 화물·항로·불빛이 플레이 목적을 대신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이 게임은 자동 전투형 idle이 아니다. 직접 조작과 조용한 항해가 번갈아 오는 리듬이다.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한 번의 60초가 보수와 항로 진행으로 동시에 이어진다. 항해 중 정비가 다음 60초의 차이를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60초 종료는 실패가 아니다. 매번 같은 길이로 강화 전후의 파괴량을 비교하기 위한 측정 구간이다.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게임잼 P0에서는 콘텐츠 수보다 티어 구분과 두 특수빙의 연쇄 손맛을 완성한다.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세 목적지는 P0의 시작·중간·끝이다. 화물은 이야기 단서이며 별도 시스템이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강화 화면은 인포그래픽이 아니라 선박 정비 게임 화면으로 보이게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상태는 여덟 개뿐이다. 이 흐름 밖의 브리핑·대화·결과 모달은 만들지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도킹과 확장은 서로 다른 게임 화면이 아니라 같은 운항 상태의 크기 변화다.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레퍼런스마다 가져올 한 가지와 가져오지 않을 것을 분명히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오디오는 서사를 말하지 않는다. 얼음 재질과 선박의 무게, 항구 도착의 안도감을 보강한다.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P0를 한 게임으로 완주시키고, 확장 아이디어는 P1로 이동한다. 자동화는 P1 기본안에도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시연 프로필은 개발 분기가 아니라 데이터 교체다. 표준 빌드의 리듬과 코드는 그대로 유지한다.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개발자 셋이 같은 Unity 자산을 만지지 않게 소유권을 먼저 고정한다.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D5와 D8에서 실제 실행 가능한 빌드를 확인한다. D11 이후에는 완성도를 올리는 일만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r>
              <a:t>마지막 장은 다음 행동으로 닫는다. D1에 계약, 스타일, 창·파쇄 기술을 동시에 검증한다.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70edef43f4551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5deaac89a43cf" /><Relationship Type="http://schemas.openxmlformats.org/officeDocument/2006/relationships/slideLayout" Target="/ppt/slideLayouts/slideLayout1.xml" Id="Ra81399bf10ce4fa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399bf10ce4fa4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7c37545ce43d6" /><Relationship Type="http://schemas.openxmlformats.org/officeDocument/2006/relationships/image" Target="/ppt/media/image.png" Id="R212f921615134b04" /><Relationship Type="http://schemas.openxmlformats.org/officeDocument/2006/relationships/notesSlide" Target="/ppt/notesSlides/notesSlide1.xml" Id="R29c649557c5f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55eff3e0c44aa" /><Relationship Type="http://schemas.openxmlformats.org/officeDocument/2006/relationships/notesSlide" Target="/ppt/notesSlides/notesSlide2.xml" Id="Rd4a8647788ff41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4250464144dd1" /><Relationship Type="http://schemas.openxmlformats.org/officeDocument/2006/relationships/notesSlide" Target="/ppt/notesSlides/notesSlide3.xml" Id="R24c401e5edbb43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f797c3fb34946" /><Relationship Type="http://schemas.openxmlformats.org/officeDocument/2006/relationships/notesSlide" Target="/ppt/notesSlides/notesSlide4.xml" Id="Rc14c859ce1a347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1d96072564601" /><Relationship Type="http://schemas.openxmlformats.org/officeDocument/2006/relationships/image" Target="/ppt/media/image2.png" Id="R292ac50e1a6147d9" /><Relationship Type="http://schemas.openxmlformats.org/officeDocument/2006/relationships/image" Target="/ppt/media/image3.png" Id="R2481b1cd9d964593" /><Relationship Type="http://schemas.openxmlformats.org/officeDocument/2006/relationships/image" Target="/ppt/media/image4.png" Id="R24b7ab2b44794437" /><Relationship Type="http://schemas.openxmlformats.org/officeDocument/2006/relationships/image" Target="/ppt/media/image5.png" Id="R835a0c07fda7474c" /><Relationship Type="http://schemas.openxmlformats.org/officeDocument/2006/relationships/notesSlide" Target="/ppt/notesSlides/notesSlide5.xml" Id="R2cfc35f88d4b43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bcb9ec0d46cc" /><Relationship Type="http://schemas.openxmlformats.org/officeDocument/2006/relationships/notesSlide" Target="/ppt/notesSlides/notesSlide6.xml" Id="Re426085b9d294a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974519ee44b6a" /><Relationship Type="http://schemas.openxmlformats.org/officeDocument/2006/relationships/image" Target="/ppt/media/image.png" Id="Rac352c6ab73a4898" /><Relationship Type="http://schemas.openxmlformats.org/officeDocument/2006/relationships/notesSlide" Target="/ppt/notesSlides/notesSlide7.xml" Id="R63064d5f731f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13220318b4f82" /><Relationship Type="http://schemas.openxmlformats.org/officeDocument/2006/relationships/image" Target="/ppt/media/image.png" Id="Rcb969f9c285247ea" /><Relationship Type="http://schemas.openxmlformats.org/officeDocument/2006/relationships/notesSlide" Target="/ppt/notesSlides/notesSlide8.xml" Id="Rf3c8abade9d746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328a5448b4ce3" /><Relationship Type="http://schemas.openxmlformats.org/officeDocument/2006/relationships/image" Target="/ppt/media/image2.png" Id="R4c3617a65fa846f5" /><Relationship Type="http://schemas.openxmlformats.org/officeDocument/2006/relationships/image" Target="/ppt/media/image.png" Id="R9a664ccab6bb4c8e" /><Relationship Type="http://schemas.openxmlformats.org/officeDocument/2006/relationships/notesSlide" Target="/ppt/notesSlides/notesSlide9.xml" Id="Rb138ef4701ec44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f24d4758d424c" /><Relationship Type="http://schemas.openxmlformats.org/officeDocument/2006/relationships/notesSlide" Target="/ppt/notesSlides/notesSlide10.xml" Id="Ra249cf1975b145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d428195884793" /><Relationship Type="http://schemas.openxmlformats.org/officeDocument/2006/relationships/notesSlide" Target="/ppt/notesSlides/notesSlide11.xml" Id="Ra93083890eaa41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2fae8d3504072" /><Relationship Type="http://schemas.openxmlformats.org/officeDocument/2006/relationships/notesSlide" Target="/ppt/notesSlides/notesSlide12.xml" Id="R463b1ae8e1ac4d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a4d2a9c344084" /><Relationship Type="http://schemas.openxmlformats.org/officeDocument/2006/relationships/notesSlide" Target="/ppt/notesSlides/notesSlide13.xml" Id="R552aeff3bf2d42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2aaa9472741e7" /><Relationship Type="http://schemas.openxmlformats.org/officeDocument/2006/relationships/notesSlide" Target="/ppt/notesSlides/notesSlide14.xml" Id="R2ffee21963c648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870b97acf43f7" /><Relationship Type="http://schemas.openxmlformats.org/officeDocument/2006/relationships/notesSlide" Target="/ppt/notesSlides/notesSlide15.xml" Id="R5408e7e575274b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587c2b9d74065" /><Relationship Type="http://schemas.openxmlformats.org/officeDocument/2006/relationships/image" Target="/ppt/media/image6.png" Id="Rf16af6e77ac54616" /><Relationship Type="http://schemas.openxmlformats.org/officeDocument/2006/relationships/image" Target="/ppt/media/image5.png" Id="Rcac0aa7a3cb14331" /><Relationship Type="http://schemas.openxmlformats.org/officeDocument/2006/relationships/image" Target="/ppt/media/image7.png" Id="R30a934b1de494eb3" /><Relationship Type="http://schemas.openxmlformats.org/officeDocument/2006/relationships/image" Target="/ppt/media/image8.png" Id="R26e2d57dbbbb4bdb" /><Relationship Type="http://schemas.openxmlformats.org/officeDocument/2006/relationships/image" Target="/ppt/media/image9.png" Id="Rfa8fb123afcd4596" /><Relationship Type="http://schemas.openxmlformats.org/officeDocument/2006/relationships/image" Target="/ppt/media/image10.png" Id="Re44c4a7130cc4c69" /><Relationship Type="http://schemas.openxmlformats.org/officeDocument/2006/relationships/image" Target="/ppt/media/image11.png" Id="R35900be7a0454fc6" /><Relationship Type="http://schemas.openxmlformats.org/officeDocument/2006/relationships/image" Target="/ppt/media/image12.png" Id="Rb3934b6211ac4fb1" /><Relationship Type="http://schemas.openxmlformats.org/officeDocument/2006/relationships/notesSlide" Target="/ppt/notesSlides/notesSlide16.xml" Id="R77ed2e92435d49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a34a644884377" /><Relationship Type="http://schemas.openxmlformats.org/officeDocument/2006/relationships/notesSlide" Target="/ppt/notesSlides/notesSlide17.xml" Id="R25d02be81e9646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3b89e2d3c4b71" /><Relationship Type="http://schemas.openxmlformats.org/officeDocument/2006/relationships/image" Target="/ppt/media/image.png" Id="R6fa4632f65b246f2" /><Relationship Type="http://schemas.openxmlformats.org/officeDocument/2006/relationships/image" Target="/ppt/media/image13.png" Id="Rbe28a48b65444fc6" /><Relationship Type="http://schemas.openxmlformats.org/officeDocument/2006/relationships/notesSlide" Target="/ppt/notesSlides/notesSlide18.xml" Id="R35b7810b0fb9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TEAM GAME DESIGN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얼어붙은 바다를 뚫고, 끊어진 항로를 잇는다.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f921615134b04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정비 자금 12.4K   ⏱ 60s   항로 42%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D14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 ·  확정 기획 v3.1  · 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화물을 실은 배가 얼음을 깨고 세 항구를 잇는다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쇄빙 보급선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ICEBREAKER의 선장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행동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최대 20개 유빙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클릭·홀드 파쇄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플레이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실패 없는 성과 측정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장기 목표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섬마을 → 등대항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→ 북쪽 기지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성장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T1~T3 빙질 대응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선박 정비 3빌드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판 사이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90초 항해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정비·항로 확인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운항 보수 →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자금 1종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완주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신규 저장 기준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30~60분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설명문 없이 화물·항로·항구 불빛으로 목적을 보여준다. 같은 60초 안에서 파괴 규모가 커지는 것이 성장의 증거다.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WORLD &amp; SCREEN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말하지 않아도 목적이 보이는 화면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 중 — 화물을 싣고 항구로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화면 — 얇은 도킹 스트립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🚢  등대항 42%   다음 유빙 01:12   12.4K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= 목적지 · 항로 · 대기 시간 · 정비 자금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작업 — 얼음이 항로를 막는다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등대항 항로        00:42        이번 운항 +1,240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최대 20개 유빙 — 부술수록 항로가 전진한다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진행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전진 점수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빙질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정비 자금  ·  선박 정비  ·  항로  ·  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화물과 항구 불빛이 ‘왜 깨는지’를 설명한다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이야기는 대사나 프롤로그가 아니라, 배에 실린 화물·가까워지는 항구·지도 위 선박 아이콘으로 전달한다.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PLAY RHYTHM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중에는 능동, 판 사이에는 조용한 항해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직접 파쇄 — 손이 멈추면 진행도 멈춤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항해·정비 — 선택과 확인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클릭·홀드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특수빙 판단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연쇄 확장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정산 확인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선박 정비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60초는 능동, 다음 구간까지는 항해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쇄빙 작업 60초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다음 유빙까지 90초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자동 공격·방치 수익·자동 항로 진행 없음. 보조 파쇄는 클릭·파괴·연쇄가 있을 때만 발동한다.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번의 파쇄가 항구까지 이어지는 순환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ac50e1a6147d9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유빙 도착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유저가 직접 시작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목적지·화물·준비된 얼음을 확인한다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1b1cd9d964593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정확히 60초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클릭·홀드 · 전진 점수 · 운항 보수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7ab2b44794437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운항 정산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실패 판정 없음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보수 확정 · 항로 갱신 · 기록 비교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a0c07fda7474c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항해·정비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표준 90초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정비 구매 · 지도 확인 · 다음 구간 대기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다음 유빙 도착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정비 구매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파쇄 손맛과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큰 연쇄가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성장의 증거.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대기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작업 복귀.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항해만 진행.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60 SECONDS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60초는 실패 제한시간이 아니라 성장 측정자다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20개로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자유 위치 · 첫 작업은 T1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이동은 ±6px, 클릭 판정은 넓게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재스폰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0.12초 파괴 → 공백 → 0.18초 생성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연쇄는 0.03초 간격 순차 리필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더 단단한 빙질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전진 점수 20마다 구간 단계 상승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해금한 최고 티어까지만 혼합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60초 정산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 정지 → 보수·점수 확정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다음 항해 타이머 즉시 시작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처음엔 얼음을 하나씩 부순다. 정비가 쌓이면 보조 타격과 연쇄가 이어지고, 같은 60초 안에서 화면 전체가 더 크게 무너진다.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CONTENT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P0의 변주는 T1~T3와 특수빙 2종이면 충분하다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진행 단계를, 특수빙은 파괴 방식의 변화를 보여준다.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P0는 T1~T3 + 결정빙·균열빙만 제작한다. T4·T5는 P1 확장이다.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보수  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보수  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보수  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P1 확장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P1 확장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특수빙과 연쇄 — 두 종류만으로 선택과 화면 폭증을 만든다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52c6ab73a4898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보수 ×4 · 파편 5개 추적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 즉시 파괴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×0.6 · 반경 120px 피해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최대 3단 연쇄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천장 규칙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18회 미출현 시 확정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 동시 최대 2개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안전 규칙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재스폰 0.25초 연쇄 면역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재파괴 방지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ROUTE PROGRESSION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파쇄 결과가 곧 항로의 거리다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출발항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식료품 · 우편 적재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첫 작업 즉시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섬마을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식료품 · 우편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목표 120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69f9c285247ea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등대항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발전기 연료 · 의약품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목표 600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69f9c285247ea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북쪽 항로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기계 부품 · 우편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목표 2,400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69f9c285247ea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북쪽 기지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T3 첫 파괴 기록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정산 후 도착 엔딩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파쇄 전진 점수는 항로에 1:1 반영한다. P0는 고정 순서 3개이며 화물 선택·인벤토리·효과는 만들지 않는다.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SHIP MAINTENANCE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트리는 배를 직접 만지는 정비 화면이다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617a65fa846f5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파쇄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60초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64ccab6bb4c8e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운항 보수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정산 시 확정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자금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단일 보유 재화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60초,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빠르게·더 넓게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19" cy="4388739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081725"/>
          </a:solidFill>
          <a:ln xmlns:a="http://schemas.openxmlformats.org/drawingml/2006/main" w="14288">
            <a:solidFill>
              <a:srgbClr val="1E57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954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D7F4FF"/>
                </a:solidFill>
              </a:defRPr>
            </a:pPr>
            <a:r>
              <a:rPr sz="975" b="1" u="none">
                <a:solidFill>
                  <a:srgbClr val="D7F4FF"/>
                </a:solidFill>
                <a:latin typeface="Malgun Gothic"/>
                <a:ea typeface="Malgun Gothic"/>
                <a:cs typeface="Malgun Gothic"/>
              </a:rPr>
              <a:t>ICEBREAKER  //  SHIP MAINTENANCE     FUNDS 12.4K  ·  ICE T3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354E"/>
          </a:solidFill>
          <a:ln xmlns:a="http://schemas.openxmlformats.org/drawingml/2006/main" w="28575">
            <a:solidFill>
              <a:srgbClr val="52D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LV.1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38196" flipH="1">
            <a:off x="7461177" y="3299692"/>
            <a:ext cx="381" cy="65043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공통 장비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5575">
            <a:off x="8419910" y="2777377"/>
            <a:ext cx="381" cy="70317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4BC"/>
          </a:solidFill>
          <a:ln xmlns:a="http://schemas.openxmlformats.org/drawingml/2006/main" w="19050">
            <a:solidFill>
              <a:srgbClr val="73D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HULL</a:t>
            </a: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57155">
            <a:off x="9563242" y="2797627"/>
            <a:ext cx="381" cy="71369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T2</a:t>
            </a: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7565">
            <a:off x="8553260" y="3024575"/>
            <a:ext cx="381" cy="1123175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514"/>
          </a:solidFill>
          <a:ln xmlns:a="http://schemas.openxmlformats.org/drawingml/2006/main" w="28575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T3</a:t>
            </a: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257300" cy="11049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ROUTE   02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FUNDS  12.4K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ICE       T3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NODES  06 / 13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1860" flipH="1">
            <a:off x="7572044" y="3814294"/>
            <a:ext cx="381" cy="479043"/>
          </a:xfrm>
          <a:prstGeom xmlns:a="http://schemas.openxmlformats.org/drawingml/2006/main" prst="line">
            <a:avLst/>
          </a:prstGeom>
          <a:ln xmlns:a="http://schemas.openxmlformats.org/drawingml/2006/main" w="21431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16669">
            <a:solidFill>
              <a:srgbClr val="4CC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파쇄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14580">
            <a:off x="8648510" y="3599261"/>
            <a:ext cx="381" cy="7643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PWR</a:t>
            </a: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3157">
            <a:off x="9934393" y="3466901"/>
            <a:ext cx="381" cy="89654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FEED</a:t>
            </a: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846">
            <a:off x="9172385" y="4165556"/>
            <a:ext cx="381" cy="698587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D36A"/>
                </a:solidFill>
              </a:defRPr>
            </a:pPr>
            <a:r>
              <a:rPr sz="600" b="1">
                <a:solidFill>
                  <a:srgbClr val="FFD36A"/>
                </a:solidFill>
              </a:rPr>
              <a:t>IMP</a:t>
            </a: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15049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CLICK 장비 선택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PANEL 상세·비용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62646">
            <a:off x="7489098" y="4195933"/>
            <a:ext cx="381" cy="589408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보조 파쇄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42450">
            <a:off x="8491347" y="4571535"/>
            <a:ext cx="381" cy="76293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FE2FF"/>
                </a:solidFill>
              </a:defRPr>
            </a:pPr>
            <a:r>
              <a:rPr sz="600" b="1">
                <a:solidFill>
                  <a:srgbClr val="7FE2FF"/>
                </a:solidFill>
              </a:rPr>
              <a:t>CHG</a:t>
            </a: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65910">
            <a:off x="9705872" y="4605569"/>
            <a:ext cx="381" cy="792686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DUAL</a:t>
            </a: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884">
            <a:off x="7205472" y="4371827"/>
            <a:ext cx="381" cy="924221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DRILL</a:t>
            </a: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공통  T2→T3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빌드  직접·보조·연쇄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0703">
            <a:off x="6729384" y="4349161"/>
            <a:ext cx="381" cy="333679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연쇄 파괴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15651">
            <a:off x="6157722" y="4862512"/>
            <a:ext cx="381" cy="35242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SPLIT</a:t>
            </a: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531045" y="4807219"/>
            <a:ext cx="381" cy="305032"/>
          </a:xfrm>
          <a:prstGeom xmlns:a="http://schemas.openxmlformats.org/drawingml/2006/main" prst="line">
            <a:avLst/>
          </a:prstGeom>
          <a:ln xmlns:a="http://schemas.openxmlformats.org/drawingml/2006/main" w="26194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00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AMP</a:t>
            </a: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01805">
            <a:off x="6362523" y="4154048"/>
            <a:ext cx="381" cy="108882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1938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E09"/>
          </a:solidFill>
          <a:ln xmlns:a="http://schemas.openxmlformats.org/drawingml/2006/main" w="28575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WAVE</a:t>
            </a: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095625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16669">
            <a:solidFill>
              <a:srgbClr val="33B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주 파쇄기 출력  LV.2 / 3        COST 900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클릭 피해 ×1.6 — 구매 후 선수 장비가 점등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675">
                <a:solidFill>
                  <a:srgbClr val="4E6578"/>
                </a:solidFill>
              </a:defRPr>
            </a:pPr>
            <a:r>
              <a:rPr sz="675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구매 항목 13개 · 장비 영역은 공통/직접/보조/연쇄 4곳 · 노드마다 새 아이콘을 만들지 않고 텍스트와 레벨 점을 재사용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번의 실행은 8개 상태로만 흐른다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항해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· 대기 시간만 진행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유빙 구간 도착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· 직접 확장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목적지·화물·정비 확인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· 입력 잠금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60초 · 구매/접기 차단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5초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타이머 강조 · 성에 프레임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운항 정산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· 보수/진행 확정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 갱신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항구 도착 또는 다음 항해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다음 유빙 구간 — 프로필만 다르고 규칙은 같다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표준 프로필  90초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프로필  20초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P1 검토값  8~15분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정산을 보는 동안에도 대기 시간은 흐른다. 앱 종료 중에는 타이머만 진행하며 자동 파쇄·정비 자금·항로 진행은 없다.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 / UX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장면이 도킹·플레이·정산을 모두 맡는다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480×56px (taskbar 바로 위)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🚢  등대항 42%   다음 유빙 01:12   12.4K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목적지 · 항로 · 대기 시간 · 정비 자금만 표시  /  팝업·자동 확장·자동 사운드 없음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720×480px (준비·플레이·정산 공통 장면)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등대항 항로 │ 00:42 │ 이번 운항 +1,240          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유빙 구간 520×376 — 바다 + 먼 항구 + 뱃머리 + 최대 20개 얼음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항로 진행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전진 점수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빙질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보조 장비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정비 자금 │ 선박 정비 │ 항로 │ 설정 │ 접기          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세계관 설명문·결과 모달 없이 같은 장면을 유지한다 · 작업 중 정비/접기 차단 · 소리 기본 꺼짐 · 포커스 스틸 금지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ART DIRECTION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차가운 바다와 따뜻한 불빛을 한 화풍으로 묶는다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DREDGE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바다 위 실루엣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어두운 해역에서도 배·등대·불빛이 한눈에 읽히는 구도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목적지 불빛과 선박 실루엣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공포 톤은 가져오지 않음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kit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Spiritfarer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따뜻한 사람의 흔적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부드러운 핸드페인팅과 따뜻한 항구가 만드는 정서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차가운 바다 + 주황 창문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감정은 대사보다 환경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kit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FAR: Lone Sails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배가 곧 캐릭터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기계와 선박 장비가 플레이의 중심이 되는 화면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선박 측면도 정비 화면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장비 영역 4곳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page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Wildfrost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작은 화면 가독성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캐주얼 실루엣과 색으로 즉시 구분되는 얼음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ICEBREAKER 적용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68px에서도 T1~T3 구분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도트 대신 부드러운 채색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Official press kit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750">
                <a:solidFill>
                  <a:srgbClr val="4E6578"/>
                </a:solidFill>
              </a:defRPr>
            </a:pPr>
            <a:r>
              <a:rPr sz="750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아트 잠금: 캐주얼 핸드페인팅 게임 화면 × 미형 선장 반신 1장 · 얼음 6실루엣 재사용 · 항구 3종은 거리/안개로 변주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FEEDBACK &amp; AUDIO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파쇄음은 차갑게, 배와 항구는 따뜻하게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5중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 단계 — 타격점에서 3단계로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파편·플래시 — 피해와 파괴 규모를 즉시 표시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크리티컬과 연쇄만 강조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— 확장 화면, 옵션으로 완전 끄기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파열음 — T1은 높게, T3는 낮고 무겁게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오디오 대비 — 차갑게 깨지고, 따뜻하게 도착한다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ICE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SHIP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MUTE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얼음=짧고 선명 · 기관=낮고 안정 · 항구=따뜻한 2음 · 최초 실행은 음소거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60초 오디오 흐름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카운트다운 틱 + 낮은 기관음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타격·연쇄 중심, 큰 연쇄 때 환경음 -4dB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0초 직전 0.1초 전체 사운드 정지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운항 정산음 → 항구 도착 화음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빙질: 짧은 이름 표시 + 발광 + 다른 파열음. 음성 대사는 없고, 일정 부족 시 BGM부터 컷한다.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SCOPE LOCK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P0는 고정 항로 3개를 완주하는 한 게임이다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WINDOW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창·UI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480×56 ↔ 720×480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저장 · KO/EN · Windows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60초 · 최대 20개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T1~T3 · 결정빙·균열빙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항로·정비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고정 항로 3개 · 정비 자금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구매 항목 13개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세계 전달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화물 · 항구 3곳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도착 연출 1~2초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ENDING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완주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T3 첫 파괴 → 북쪽 기지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표준 30~60분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게임잼에 잠금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60초 파쇄 · 90초 항해 · 고정 항로 3개 · 정비 3빌드 · 로컬 저장 · 캐주얼 핸드페인팅 화면 · 선장 반신 1장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순서: 키비주얼/BGM → 장식 인부 → 장비 외형 → 거리 단계 → 얼음 실루엣 → 키스톤 3개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플레이테스트 뒤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T4·T5 · 흑빙·서리빙 · 추가 목적지 · 계약 선택 · 분기 항로 · 화물 보정 · macOS · 다국어 · Steam 제품화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기본 제외: 자동 공격 · 앱 종료 중 수익 · 거래 경제 · 선체 HP · 장문 대화 · 물류 시뮬레이션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 PROFILES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표준은 30~60분, 시연은 같은 게임을 빠르게 검증한다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시연 프로필은 난이도 선택이 아니라 같은 코드에 다른 수치 JSON을 적용한 발표용 빌드다.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P0 표준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시연 프로필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쇄빙 작업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60초 · 동일 코드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 유빙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90초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 유빙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 목표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120 / 600 / 2,400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항로 목표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40 / 120 / 300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비용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기준값 100%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정비 비용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기준값 약 10%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완주 목표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저장 30~60분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리허설 목표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전체 흐름 10분 이내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유빙 화면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유빙 화면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표준과 동일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모든 값은 JSON이 단일 출처다. D10에 ±30% 안에서 조정하며, 공개 설정에는 프로필 전환을 노출하지 않는다.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TECH &amp; OWNERSHIP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셋이 같은 씬을 건드리지 않도록 소유권부터 나눈다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af6e77ac54616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공유 계약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RunResult · RouteState · BalanceData · GameEvents — D1 안에 확정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0aa7a3cb14331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8상태 · 얼음 필드 · 항로 · 정비 · 저장 모듈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934b1de494eb3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창·UI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— 도킹·확장·DPI · 실패 시 하단 스냅 일반 창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2d57dbbbb4bdb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데이터·검증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standard/demo JSON · 로컬 저장 · 상태/항로/구매 자동 테스트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파일 소유권 — 충돌을 설계로 차단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fb123afcd4596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개발자 1 — 얼음·입력·특수빙·연쇄·풀링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메인 씬·UI 프리팹 수정 없음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c4a7130cc4c69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개발자 2 — 상태·정산·항로·정비·저장·밸런스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공유 계약과 데이터 소유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00be7a0454fc6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개발자 3 — 창·메인 씬·UI·아트/오디오 임포트·빌드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씬과 프리팹 단일 소유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34b6211ac4fb1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아티스트 — PSD/KRA 원본 + 투명 PNG + 720×480 합성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임포트는 개발자 3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14-DAY WBS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D5 루프, D8 메타, D11 동결, D13 RC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GO / NO-GO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폴백 + 얼음 20개 + 60fps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공유 계약·스타일 타일 승인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D3~5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수직 슬라이스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60초 작업 → 정산 → 90초 항해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→ 두 번째 작업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D6~8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메타 루프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항로 · 정비 13개 · 저장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UI·아트 1차 통합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D9~11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콘텐츠 완료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T1~T3 · 특수빙 · 항구 3곳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도착·오디오 · D11 동결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D12~14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QA · 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밸런스 · DPI · KO/EN · RC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클린 PC · 시연 빌드 · 백업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담당 — 동시에 만들어도 충돌하지 않게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개발자 1 파쇄 코어 · 개발자 2 진행/데이터 · 개발자 3 창/UI/통합 · 아티스트 게임 에셋/선장 원화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메인 씬·UI 프리팹·임포트는 개발자 3만 수정. 나머지는 스크립트·데이터·테스트·원본 에셋으로 납품.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통합 규칙 — 최신 실행 빌드가 기준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매일 개발자 1 → 2 → 3 순서로 통합 · 직후 네 명이 10분 핵심 흐름 확인 · D11 이후 신규 기능·에셋 요청 금지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D13 이후에는 차단 버그만 수정. D14 제출물은 standard/demo 빌드·라이선스·조작 안내·백업.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이 게임을 한 문장으로 잠근다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“얼음을 부수면,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끊어진 항로가 다시 이어진다.”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60초 파쇄 · 고정 항로 3개 · 한 척의 마지막 보급선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4632f65b246f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8a48b65444fc6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D1 첫 행동: 공유 계약 승인 · 스타일 타일 승인 · 도킹/파쇄 프로토타입 시작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2026-07-17T20:07:18.8590000Z</dcterms:created>
  <dcterms:modified xsi:type="dcterms:W3CDTF">2026-07-17T20:07:18.8590000Z</dcterms:modified>
</coreProperties>
</file>