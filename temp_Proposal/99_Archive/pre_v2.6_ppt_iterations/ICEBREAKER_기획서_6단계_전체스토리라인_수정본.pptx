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3e117cd8894c8c" /><Relationship Type="http://schemas.openxmlformats.org/officeDocument/2006/relationships/extended-properties" Target="/docProps/app.xml" Id="R2bdc7354d46f4bbe" /><Relationship Type="http://schemas.openxmlformats.org/officeDocument/2006/relationships/officeDocument" Target="/ppt/presentation.xml" Id="R235b4fde98194d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264709bebf42c3"/>
  </p:sldMasterIdLst>
  <p:notesMasterIdLst>
    <p:notesMasterId xmlns:r="http://schemas.openxmlformats.org/officeDocument/2006/relationships" r:id="R82abeaee67934dec"/>
  </p:notesMasterIdLst>
  <p:sldIdLst>
    <p:sldId xmlns:r="http://schemas.openxmlformats.org/officeDocument/2006/relationships" id="256" r:id="R7f6413f6077d4313"/>
    <p:sldId xmlns:r="http://schemas.openxmlformats.org/officeDocument/2006/relationships" id="257" r:id="R84bdbb4d16f54b1a"/>
    <p:sldId xmlns:r="http://schemas.openxmlformats.org/officeDocument/2006/relationships" id="258" r:id="Rd79b3574d0ec4a5b"/>
    <p:sldId xmlns:r="http://schemas.openxmlformats.org/officeDocument/2006/relationships" id="259" r:id="Ra739905065bf4cb4"/>
    <p:sldId xmlns:r="http://schemas.openxmlformats.org/officeDocument/2006/relationships" id="260" r:id="R4b271fd5095f4833"/>
    <p:sldId xmlns:r="http://schemas.openxmlformats.org/officeDocument/2006/relationships" id="261" r:id="R4767e7366bda4f13"/>
    <p:sldId xmlns:r="http://schemas.openxmlformats.org/officeDocument/2006/relationships" id="262" r:id="R4decd8877b354d75"/>
    <p:sldId xmlns:r="http://schemas.openxmlformats.org/officeDocument/2006/relationships" id="263" r:id="Rd19d779de57b44af"/>
    <p:sldId xmlns:r="http://schemas.openxmlformats.org/officeDocument/2006/relationships" id="264" r:id="R76c90661d3ec4d0a"/>
    <p:sldId xmlns:r="http://schemas.openxmlformats.org/officeDocument/2006/relationships" id="265" r:id="R001f2f60aa8c4d4a"/>
    <p:sldId xmlns:r="http://schemas.openxmlformats.org/officeDocument/2006/relationships" id="266" r:id="R7e6e08d67a4442cf"/>
    <p:sldId xmlns:r="http://schemas.openxmlformats.org/officeDocument/2006/relationships" id="267" r:id="R53f166c8ad2546db"/>
    <p:sldId xmlns:r="http://schemas.openxmlformats.org/officeDocument/2006/relationships" id="268" r:id="Re6f647426efb466e"/>
    <p:sldId xmlns:r="http://schemas.openxmlformats.org/officeDocument/2006/relationships" id="269" r:id="R5302aec9a4a34fff"/>
    <p:sldId xmlns:r="http://schemas.openxmlformats.org/officeDocument/2006/relationships" id="270" r:id="R7af695d80a7e4aac"/>
    <p:sldId xmlns:r="http://schemas.openxmlformats.org/officeDocument/2006/relationships" id="271" r:id="R188a79a1e0994092"/>
    <p:sldId xmlns:r="http://schemas.openxmlformats.org/officeDocument/2006/relationships" id="272" r:id="R20f1b63b798544dd"/>
    <p:sldId xmlns:r="http://schemas.openxmlformats.org/officeDocument/2006/relationships" id="273" r:id="R9bece59b7cb84e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36756e3c040d6" /><Relationship Type="http://schemas.openxmlformats.org/officeDocument/2006/relationships/slideMaster" Target="/ppt/slideMasters/slideMaster1.xml" Id="Re0264709bebf42c3" /><Relationship Type="http://schemas.openxmlformats.org/officeDocument/2006/relationships/notesMaster" Target="/ppt/notesMasters/notesMaster1.xml" Id="R82abeaee67934dec" /><Relationship Type="http://schemas.openxmlformats.org/officeDocument/2006/relationships/presProps" Target="/ppt/presProps.xml" Id="Re4d866a6a0d44191" /><Relationship Type="http://schemas.openxmlformats.org/officeDocument/2006/relationships/tableStyles" Target="/ppt/tableStyles.xml" Id="R2695adc8a5bc4a28" /><Relationship Type="http://schemas.openxmlformats.org/officeDocument/2006/relationships/slide" Target="/ppt/slides/slide1.xml" Id="R7f6413f6077d4313" /><Relationship Type="http://schemas.openxmlformats.org/officeDocument/2006/relationships/slide" Target="/ppt/slides/slide2.xml" Id="R84bdbb4d16f54b1a" /><Relationship Type="http://schemas.openxmlformats.org/officeDocument/2006/relationships/slide" Target="/ppt/slides/slide3.xml" Id="Rd79b3574d0ec4a5b" /><Relationship Type="http://schemas.openxmlformats.org/officeDocument/2006/relationships/slide" Target="/ppt/slides/slide4.xml" Id="Ra739905065bf4cb4" /><Relationship Type="http://schemas.openxmlformats.org/officeDocument/2006/relationships/slide" Target="/ppt/slides/slide5.xml" Id="R4b271fd5095f4833" /><Relationship Type="http://schemas.openxmlformats.org/officeDocument/2006/relationships/slide" Target="/ppt/slides/slide6.xml" Id="R4767e7366bda4f13" /><Relationship Type="http://schemas.openxmlformats.org/officeDocument/2006/relationships/slide" Target="/ppt/slides/slide7.xml" Id="R4decd8877b354d75" /><Relationship Type="http://schemas.openxmlformats.org/officeDocument/2006/relationships/slide" Target="/ppt/slides/slide8.xml" Id="Rd19d779de57b44af" /><Relationship Type="http://schemas.openxmlformats.org/officeDocument/2006/relationships/slide" Target="/ppt/slides/slide9.xml" Id="R76c90661d3ec4d0a" /><Relationship Type="http://schemas.openxmlformats.org/officeDocument/2006/relationships/slide" Target="/ppt/slides/slide10.xml" Id="R001f2f60aa8c4d4a" /><Relationship Type="http://schemas.openxmlformats.org/officeDocument/2006/relationships/slide" Target="/ppt/slides/slide11.xml" Id="R7e6e08d67a4442cf" /><Relationship Type="http://schemas.openxmlformats.org/officeDocument/2006/relationships/slide" Target="/ppt/slides/slide12.xml" Id="R53f166c8ad2546db" /><Relationship Type="http://schemas.openxmlformats.org/officeDocument/2006/relationships/slide" Target="/ppt/slides/slide13.xml" Id="Re6f647426efb466e" /><Relationship Type="http://schemas.openxmlformats.org/officeDocument/2006/relationships/slide" Target="/ppt/slides/slide14.xml" Id="R5302aec9a4a34fff" /><Relationship Type="http://schemas.openxmlformats.org/officeDocument/2006/relationships/slide" Target="/ppt/slides/slide15.xml" Id="R7af695d80a7e4aac" /><Relationship Type="http://schemas.openxmlformats.org/officeDocument/2006/relationships/slide" Target="/ppt/slides/slide16.xml" Id="R188a79a1e0994092" /><Relationship Type="http://schemas.openxmlformats.org/officeDocument/2006/relationships/slide" Target="/ppt/slides/slide17.xml" Id="R20f1b63b798544dd" /><Relationship Type="http://schemas.openxmlformats.org/officeDocument/2006/relationships/slide" Target="/ppt/slides/slide18.xml" Id="R9bece59b7cb84e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96192043a0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2c4be6d084183" /><Relationship Type="http://schemas.openxmlformats.org/officeDocument/2006/relationships/notesMaster" Target="/ppt/notesMasters/notesMaster1.xml" Id="Rb8cd7151eab848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d9f8416f946fc" /><Relationship Type="http://schemas.openxmlformats.org/officeDocument/2006/relationships/notesMaster" Target="/ppt/notesMasters/notesMaster1.xml" Id="Rc1546fb1656844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838f477194501" /><Relationship Type="http://schemas.openxmlformats.org/officeDocument/2006/relationships/notesMaster" Target="/ppt/notesMasters/notesMaster1.xml" Id="Refdc5ed8a75c41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eefd4915a141f9" /><Relationship Type="http://schemas.openxmlformats.org/officeDocument/2006/relationships/notesMaster" Target="/ppt/notesMasters/notesMaster1.xml" Id="R79d0412181154e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75cf1c38aa4fa1" /><Relationship Type="http://schemas.openxmlformats.org/officeDocument/2006/relationships/notesMaster" Target="/ppt/notesMasters/notesMaster1.xml" Id="R01e3e506c45146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6c8fa96f4426b" /><Relationship Type="http://schemas.openxmlformats.org/officeDocument/2006/relationships/notesMaster" Target="/ppt/notesMasters/notesMaster1.xml" Id="R06a212d4106742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f89074fd7a41c2" /><Relationship Type="http://schemas.openxmlformats.org/officeDocument/2006/relationships/notesMaster" Target="/ppt/notesMasters/notesMaster1.xml" Id="R77b382b3049145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b7a9295aee42ee" /><Relationship Type="http://schemas.openxmlformats.org/officeDocument/2006/relationships/notesMaster" Target="/ppt/notesMasters/notesMaster1.xml" Id="R130deeba9b7645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68346a08ed468e" /><Relationship Type="http://schemas.openxmlformats.org/officeDocument/2006/relationships/notesMaster" Target="/ppt/notesMasters/notesMaster1.xml" Id="R63263121284e42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972e4ce99e42e8" /><Relationship Type="http://schemas.openxmlformats.org/officeDocument/2006/relationships/notesMaster" Target="/ppt/notesMasters/notesMaster1.xml" Id="R439db6ff35d048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5aa44832bc4d48" /><Relationship Type="http://schemas.openxmlformats.org/officeDocument/2006/relationships/notesMaster" Target="/ppt/notesMasters/notesMaster1.xml" Id="R0dfd081b26b445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f49175f274ae2" /><Relationship Type="http://schemas.openxmlformats.org/officeDocument/2006/relationships/notesMaster" Target="/ppt/notesMasters/notesMaster1.xml" Id="R8d285a1960ba45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3c19251035427f" /><Relationship Type="http://schemas.openxmlformats.org/officeDocument/2006/relationships/notesMaster" Target="/ppt/notesMasters/notesMaster1.xml" Id="Rfb11d0d6742845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fd0c8ee5fa49c3" /><Relationship Type="http://schemas.openxmlformats.org/officeDocument/2006/relationships/notesMaster" Target="/ppt/notesMasters/notesMaster1.xml" Id="Rf2c389cfeecd46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8f13f9f0354b69" /><Relationship Type="http://schemas.openxmlformats.org/officeDocument/2006/relationships/notesMaster" Target="/ppt/notesMasters/notesMaster1.xml" Id="R54ff2a1d43bc4e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8eecded4d94e02" /><Relationship Type="http://schemas.openxmlformats.org/officeDocument/2006/relationships/notesMaster" Target="/ppt/notesMasters/notesMaster1.xml" Id="R3a37020e7fd24c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01dd0f22b54f40" /><Relationship Type="http://schemas.openxmlformats.org/officeDocument/2006/relationships/notesMaster" Target="/ppt/notesMasters/notesMaster1.xml" Id="R6a5e8060653c49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e77ae797ad4795" /><Relationship Type="http://schemas.openxmlformats.org/officeDocument/2006/relationships/notesMaster" Target="/ppt/notesMasters/notesMaster1.xml" Id="R5edf642342fd48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이 덱의 결론을 먼저 말한다. ICEBREAKER는 얼음을 깨는 게임이면서, 끊어진 항로를 다시 잇는 게임이다.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팀이 기억해야 할 게임 정의를 한 장에 고정한다. 세부 논의가 흔들리면 이 장으로 돌아온다.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세계관은 설명하지 않고 화면으로 전달한다. 화물·항로·불빛이 플레이 목적을 대신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이 게임은 자동 전투형 idle이 아니다. 직접 조작과 조용한 항해가 번갈아 오는 리듬이다.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한 번의 60초가 보수와 항로 진행으로 동시에 이어진다. 항해 중 정비가 다음 60초의 차이를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60초 종료는 실패가 아니다. 매번 같은 길이로 강화 전후의 파괴량을 비교하기 위한 측정 구간이다.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게임잼 P0에서는 콘텐츠 수보다 티어 구분과 두 특수빙의 연쇄 손맛을 완성한다.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세 목적지는 P0의 시작·중간·끝이다. 화물은 이야기 단서이며 별도 시스템이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강화 화면은 인포그래픽이 아니라 선박 정비 게임 화면으로 보이게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상태는 여덟 개뿐이다. 이 흐름 밖의 브리핑·대화·결과 모달은 만들지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도킹과 확장은 서로 다른 게임 화면이 아니라 같은 운항 상태의 크기 변화다.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레퍼런스마다 가져올 한 가지와 가져오지 않을 것을 분명히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오디오는 서사를 말하지 않는다. 얼음 재질과 선박의 무게, 항구 도착의 안도감을 보강한다.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P0를 한 게임으로 완주시키고, 확장 아이디어는 P1로 이동한다. 자동화는 P1 기본안에도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시연 프로필은 개발 분기가 아니라 데이터 교체다. 표준 빌드의 리듬과 코드는 그대로 유지한다.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개발자 셋이 같은 Unity 자산을 만지지 않게 소유권을 먼저 고정한다.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D5와 D8에서 실제 실행 가능한 빌드를 확인한다. D11 이후에는 완성도를 올리는 일만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마지막 장은 다음 행동으로 닫는다. D1에 계약, 스타일, 창·파쇄 기술을 동시에 검증한다.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2521dc83e463c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deab1a51244dd7" /><Relationship Type="http://schemas.openxmlformats.org/officeDocument/2006/relationships/slideLayout" Target="/ppt/slideLayouts/slideLayout1.xml" Id="R71b6cfe0a5e2431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b6cfe0a5e24313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07fa283a0472a" /><Relationship Type="http://schemas.openxmlformats.org/officeDocument/2006/relationships/image" Target="/ppt/media/image.png" Id="R1e13163f6cf1462a" /><Relationship Type="http://schemas.openxmlformats.org/officeDocument/2006/relationships/notesSlide" Target="/ppt/notesSlides/notesSlide1.xml" Id="Rdcb4f89d433e40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730bd1b284095" /><Relationship Type="http://schemas.openxmlformats.org/officeDocument/2006/relationships/notesSlide" Target="/ppt/notesSlides/notesSlide2.xml" Id="R5d94a7e414fc43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2cbb555614b15" /><Relationship Type="http://schemas.openxmlformats.org/officeDocument/2006/relationships/notesSlide" Target="/ppt/notesSlides/notesSlide3.xml" Id="Rfcb98f0f32d8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b9faa630f43d9" /><Relationship Type="http://schemas.openxmlformats.org/officeDocument/2006/relationships/notesSlide" Target="/ppt/notesSlides/notesSlide4.xml" Id="R082b246eaa08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6ab696b69467a" /><Relationship Type="http://schemas.openxmlformats.org/officeDocument/2006/relationships/image" Target="/ppt/media/image2.png" Id="R626f39ea39164c33" /><Relationship Type="http://schemas.openxmlformats.org/officeDocument/2006/relationships/image" Target="/ppt/media/image3.png" Id="R5575e8cb620d430f" /><Relationship Type="http://schemas.openxmlformats.org/officeDocument/2006/relationships/image" Target="/ppt/media/image4.png" Id="R05a8640e97074948" /><Relationship Type="http://schemas.openxmlformats.org/officeDocument/2006/relationships/image" Target="/ppt/media/image5.png" Id="R40258ea875e547cc" /><Relationship Type="http://schemas.openxmlformats.org/officeDocument/2006/relationships/notesSlide" Target="/ppt/notesSlides/notesSlide5.xml" Id="R6b5e42330d6b4a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e9ae5100746ea" /><Relationship Type="http://schemas.openxmlformats.org/officeDocument/2006/relationships/notesSlide" Target="/ppt/notesSlides/notesSlide6.xml" Id="Rfdba7d36fdf242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1a09b737f4f17" /><Relationship Type="http://schemas.openxmlformats.org/officeDocument/2006/relationships/image" Target="/ppt/media/image.png" Id="R3aeb7358578846f0" /><Relationship Type="http://schemas.openxmlformats.org/officeDocument/2006/relationships/notesSlide" Target="/ppt/notesSlides/notesSlide7.xml" Id="R54de528bbe1b40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891c8b2354f10" /><Relationship Type="http://schemas.openxmlformats.org/officeDocument/2006/relationships/image" Target="/ppt/media/image.png" Id="Raf28157326fc46f3" /><Relationship Type="http://schemas.openxmlformats.org/officeDocument/2006/relationships/notesSlide" Target="/ppt/notesSlides/notesSlide8.xml" Id="R8e085d2dbb914a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df9398d0645e4" /><Relationship Type="http://schemas.openxmlformats.org/officeDocument/2006/relationships/image" Target="/ppt/media/image2.png" Id="R56dce58e79664e59" /><Relationship Type="http://schemas.openxmlformats.org/officeDocument/2006/relationships/image" Target="/ppt/media/image.png" Id="Rce336f0aef614f27" /><Relationship Type="http://schemas.openxmlformats.org/officeDocument/2006/relationships/notesSlide" Target="/ppt/notesSlides/notesSlide9.xml" Id="R322d1034bb0d43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b706bfc2a494c" /><Relationship Type="http://schemas.openxmlformats.org/officeDocument/2006/relationships/notesSlide" Target="/ppt/notesSlides/notesSlide10.xml" Id="Re93256102c3b47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075d007b14796" /><Relationship Type="http://schemas.openxmlformats.org/officeDocument/2006/relationships/notesSlide" Target="/ppt/notesSlides/notesSlide11.xml" Id="Rc2a2d562dc334f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defb7cf414e7f" /><Relationship Type="http://schemas.openxmlformats.org/officeDocument/2006/relationships/notesSlide" Target="/ppt/notesSlides/notesSlide12.xml" Id="Rd8f7154d556b45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e1fd2b6654855" /><Relationship Type="http://schemas.openxmlformats.org/officeDocument/2006/relationships/notesSlide" Target="/ppt/notesSlides/notesSlide13.xml" Id="R21476f53964f41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464f96faa4855" /><Relationship Type="http://schemas.openxmlformats.org/officeDocument/2006/relationships/notesSlide" Target="/ppt/notesSlides/notesSlide14.xml" Id="R294b9c5a3c664f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3caa6cd5c4190" /><Relationship Type="http://schemas.openxmlformats.org/officeDocument/2006/relationships/notesSlide" Target="/ppt/notesSlides/notesSlide15.xml" Id="R47fc56b40f2947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a6261d7104136" /><Relationship Type="http://schemas.openxmlformats.org/officeDocument/2006/relationships/image" Target="/ppt/media/image6.png" Id="R1bef0e90f0dc4973" /><Relationship Type="http://schemas.openxmlformats.org/officeDocument/2006/relationships/image" Target="/ppt/media/image5.png" Id="R9ef883d623d04ebc" /><Relationship Type="http://schemas.openxmlformats.org/officeDocument/2006/relationships/image" Target="/ppt/media/image7.png" Id="Radc251883a234d19" /><Relationship Type="http://schemas.openxmlformats.org/officeDocument/2006/relationships/image" Target="/ppt/media/image8.png" Id="Rb20dfa3ac7304eae" /><Relationship Type="http://schemas.openxmlformats.org/officeDocument/2006/relationships/image" Target="/ppt/media/image9.png" Id="Rb689e9e649304b84" /><Relationship Type="http://schemas.openxmlformats.org/officeDocument/2006/relationships/image" Target="/ppt/media/image10.png" Id="R8e03507603594cfe" /><Relationship Type="http://schemas.openxmlformats.org/officeDocument/2006/relationships/image" Target="/ppt/media/image11.png" Id="Rb159b8e2c2ad4d36" /><Relationship Type="http://schemas.openxmlformats.org/officeDocument/2006/relationships/image" Target="/ppt/media/image12.png" Id="R11efa3de7ae54f49" /><Relationship Type="http://schemas.openxmlformats.org/officeDocument/2006/relationships/notesSlide" Target="/ppt/notesSlides/notesSlide16.xml" Id="Ree2173e99e4842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240afbd2b43ff" /><Relationship Type="http://schemas.openxmlformats.org/officeDocument/2006/relationships/notesSlide" Target="/ppt/notesSlides/notesSlide17.xml" Id="Rd1faaa416b894d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d02e8c84d4a57" /><Relationship Type="http://schemas.openxmlformats.org/officeDocument/2006/relationships/image" Target="/ppt/media/image.png" Id="R7b98a4610f554352" /><Relationship Type="http://schemas.openxmlformats.org/officeDocument/2006/relationships/image" Target="/ppt/media/image13.png" Id="R7fa18500737d49d5" /><Relationship Type="http://schemas.openxmlformats.org/officeDocument/2006/relationships/notesSlide" Target="/ppt/notesSlides/notesSlide18.xml" Id="Raddcc72c219e45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TEAM GAME DESIGN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얼어붙은 바다를 뚫고, 끊어진 항로를 잇는다.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3163f6cf1462a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정비 자금 12.4K   ⏱ 60s   항로 42%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D14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 ·  확정 기획 v3.1  · 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화물을 실은 배가 얼음을 깨고 세 항구를 잇는다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쇄빙 보급선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ICEBREAKER의 선장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행동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최대 20개 유빙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클릭·홀드 파쇄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플레이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실패 없는 성과 측정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장기 목표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섬마을 → 등대항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→ 북쪽 기지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성장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T1~T3 빙질 대응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선박 정비 3빌드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판 사이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90초 항해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정비·항로 확인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운항 보수 →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자금 1종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완주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신규 저장 기준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30~60분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설명문 없이 화물·항로·항구 불빛으로 목적을 보여준다. 같은 60초 안에서 파괴 규모가 커지는 것이 성장의 증거다.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WORLD &amp; SCREEN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말하지 않아도 목적이 보이는 화면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 중 — 화물을 싣고 항구로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화면 — 얇은 도킹 스트립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🚢  등대항 42%   다음 유빙 01:12   12.4K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= 목적지 · 항로 · 대기 시간 · 정비 자금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작업 — 얼음이 항로를 막는다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등대항 항로        00:42        이번 운항 +1,240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최대 20개 유빙 — 부술수록 항로가 전진한다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진행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전진 점수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빙질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정비 자금  ·  선박 정비  ·  항로  ·  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화물과 항구 불빛이 ‘왜 깨는지’를 설명한다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이야기는 대사나 프롤로그가 아니라, 배에 실린 화물·가까워지는 항구·지도 위 선박 아이콘으로 전달한다.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PLAY RHYTHM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중에는 능동, 판 사이에는 조용한 항해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직접 파쇄 — 손이 멈추면 진행도 멈춤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항해·정비 — 선택과 확인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클릭·홀드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특수빙 판단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연쇄 확장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정산 확인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선박 정비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60초는 능동, 다음 구간까지는 항해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쇄빙 작업 60초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다음 유빙까지 90초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자동 공격·방치 수익·자동 항로 진행 없음. 보조 파쇄는 클릭·파괴·연쇄가 있을 때만 발동한다.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번의 파쇄가 항구까지 이어지는 순환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f39ea39164c33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유빙 도착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유저가 직접 시작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목적지·화물·준비된 얼음을 확인한다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5e8cb620d430f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정확히 60초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클릭·홀드 · 전진 점수 · 운항 보수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8640e97074948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운항 정산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실패 판정 없음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보수 확정 · 항로 갱신 · 기록 비교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58ea875e547cc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항해·정비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표준 90초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정비 구매 · 지도 확인 · 다음 구간 대기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다음 유빙 도착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정비 구매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파쇄 손맛과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큰 연쇄가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성장의 증거.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대기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작업 복귀.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항해만 진행.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60 SECONDS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60초는 실패 제한시간이 아니라 성장 측정자다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20개로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자유 위치 · 첫 작업은 T1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이동은 ±6px, 클릭 판정은 넓게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재스폰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0.12초 파괴 → 공백 → 0.18초 생성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연쇄는 0.03초 간격 순차 리필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더 단단한 빙질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전진 점수 20마다 구간 단계 상승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해금한 최고 티어까지만 혼합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60초 정산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 정지 → 보수·점수 확정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다음 항해 타이머 즉시 시작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처음엔 얼음을 하나씩 부순다. 정비가 쌓이면 보조 타격과 연쇄가 이어지고, 같은 60초 안에서 화면 전체가 더 크게 무너진다.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CONTENT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P0의 변주는 T1~T3와 특수빙 2종이면 충분하다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진행 단계를, 특수빙은 파괴 방식의 변화를 보여준다.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P0는 T1~T3 + 결정빙·균열빙만 제작한다. T4·T5는 P1 확장이다.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보수  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보수  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보수  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P1 확장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P1 확장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특수빙과 연쇄 — 두 종류만으로 선택과 화면 폭증을 만든다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b7358578846f0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보수 ×4 · 파편 5개 추적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 즉시 파괴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×0.6 · 반경 120px 피해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최대 3단 연쇄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천장 규칙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18회 미출현 시 확정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 동시 최대 2개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안전 규칙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재스폰 0.25초 연쇄 면역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재파괴 방지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ROUTE PROGRESSION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파쇄 결과가 곧 항로의 거리다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출발항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식료품 · 우편 적재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첫 작업 즉시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섬마을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식료품 · 우편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목표 120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8157326fc46f3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등대항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발전기 연료 · 의약품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목표 600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8157326fc46f3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북쪽 항로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기계 부품 · 우편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목표 2,400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8157326fc46f3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북쪽 기지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T3 첫 파괴 기록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정산 후 도착 엔딩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파쇄 전진 점수는 항로에 1:1 반영한다. P0는 고정 순서 3개이며 화물 선택·인벤토리·효과는 만들지 않는다.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SHIP MAINTENANCE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트리는 배를 직접 만지는 정비 화면이다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ce58e79664e59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파쇄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60초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36f0aef614f27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운항 보수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정산 시 확정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자금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단일 보유 재화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60초,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빠르게·더 넓게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19" cy="4388739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081725"/>
          </a:solidFill>
          <a:ln xmlns:a="http://schemas.openxmlformats.org/drawingml/2006/main" w="14288">
            <a:solidFill>
              <a:srgbClr val="1E57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954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D7F4FF"/>
                </a:solidFill>
              </a:defRPr>
            </a:pPr>
            <a:r>
              <a:rPr sz="975" b="1" u="none">
                <a:solidFill>
                  <a:srgbClr val="D7F4FF"/>
                </a:solidFill>
                <a:latin typeface="Malgun Gothic"/>
                <a:ea typeface="Malgun Gothic"/>
                <a:cs typeface="Malgun Gothic"/>
              </a:rPr>
              <a:t>ICEBREAKER  //  SHIP MAINTENANCE     FUNDS 12.4K  ·  ICE T3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354E"/>
          </a:solidFill>
          <a:ln xmlns:a="http://schemas.openxmlformats.org/drawingml/2006/main" w="28575">
            <a:solidFill>
              <a:srgbClr val="52D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LV.1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38196" flipH="1">
            <a:off x="7461177" y="3299692"/>
            <a:ext cx="381" cy="65043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공통 장비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5575">
            <a:off x="8419910" y="2777377"/>
            <a:ext cx="381" cy="70317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4BC"/>
          </a:solidFill>
          <a:ln xmlns:a="http://schemas.openxmlformats.org/drawingml/2006/main" w="19050">
            <a:solidFill>
              <a:srgbClr val="73D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HULL</a:t>
            </a: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57155">
            <a:off x="9563242" y="2797627"/>
            <a:ext cx="381" cy="71369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T2</a:t>
            </a: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7565">
            <a:off x="8553260" y="3024575"/>
            <a:ext cx="381" cy="1123175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514"/>
          </a:solidFill>
          <a:ln xmlns:a="http://schemas.openxmlformats.org/drawingml/2006/main" w="28575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T3</a:t>
            </a: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257300" cy="11049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ROUTE   02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FUNDS  12.4K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ICE       T3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NODES  06 / 13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1860" flipH="1">
            <a:off x="7572044" y="3814294"/>
            <a:ext cx="381" cy="479043"/>
          </a:xfrm>
          <a:prstGeom xmlns:a="http://schemas.openxmlformats.org/drawingml/2006/main" prst="line">
            <a:avLst/>
          </a:prstGeom>
          <a:ln xmlns:a="http://schemas.openxmlformats.org/drawingml/2006/main" w="21431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16669">
            <a:solidFill>
              <a:srgbClr val="4CC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파쇄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14580">
            <a:off x="8648510" y="3599261"/>
            <a:ext cx="381" cy="7643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PWR</a:t>
            </a: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3157">
            <a:off x="9934393" y="3466901"/>
            <a:ext cx="381" cy="89654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FEED</a:t>
            </a: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846">
            <a:off x="9172385" y="4165556"/>
            <a:ext cx="381" cy="698587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D36A"/>
                </a:solidFill>
              </a:defRPr>
            </a:pPr>
            <a:r>
              <a:rPr sz="600" b="1">
                <a:solidFill>
                  <a:srgbClr val="FFD36A"/>
                </a:solidFill>
              </a:rPr>
              <a:t>IMP</a:t>
            </a: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15049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CLICK 장비 선택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PANEL 상세·비용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62646">
            <a:off x="7489098" y="4195933"/>
            <a:ext cx="381" cy="589408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보조 파쇄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42450">
            <a:off x="8491347" y="4571535"/>
            <a:ext cx="381" cy="76293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FE2FF"/>
                </a:solidFill>
              </a:defRPr>
            </a:pPr>
            <a:r>
              <a:rPr sz="600" b="1">
                <a:solidFill>
                  <a:srgbClr val="7FE2FF"/>
                </a:solidFill>
              </a:rPr>
              <a:t>CHG</a:t>
            </a: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65910">
            <a:off x="9705872" y="4605569"/>
            <a:ext cx="381" cy="792686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DUAL</a:t>
            </a: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884">
            <a:off x="7205472" y="4371827"/>
            <a:ext cx="381" cy="924221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DRILL</a:t>
            </a: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공통  T2→T3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빌드  직접·보조·연쇄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0703">
            <a:off x="6729384" y="4349161"/>
            <a:ext cx="381" cy="333679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연쇄 파괴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15651">
            <a:off x="6157722" y="4862512"/>
            <a:ext cx="381" cy="35242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SPLIT</a:t>
            </a: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531045" y="4807219"/>
            <a:ext cx="381" cy="305032"/>
          </a:xfrm>
          <a:prstGeom xmlns:a="http://schemas.openxmlformats.org/drawingml/2006/main" prst="line">
            <a:avLst/>
          </a:prstGeom>
          <a:ln xmlns:a="http://schemas.openxmlformats.org/drawingml/2006/main" w="26194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00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AMP</a:t>
            </a: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01805">
            <a:off x="6362523" y="4154048"/>
            <a:ext cx="381" cy="108882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1938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E09"/>
          </a:solidFill>
          <a:ln xmlns:a="http://schemas.openxmlformats.org/drawingml/2006/main" w="28575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095625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16669">
            <a:solidFill>
              <a:srgbClr val="33B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주 파쇄기 출력  LV.2 / 3        COST 900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클릭 피해 ×1.6 — 구매 후 선수 장비가 점등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675">
                <a:solidFill>
                  <a:srgbClr val="4E6578"/>
                </a:solidFill>
              </a:defRPr>
            </a:pPr>
            <a:r>
              <a:rPr sz="675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구매 항목 13개 · 장비 영역은 공통/직접/보조/연쇄 4곳 · 노드마다 새 아이콘을 만들지 않고 텍스트와 레벨 점을 재사용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번의 실행은 8개 상태로만 흐른다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· 대기 시간만 진행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유빙 구간 도착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· 직접 확장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목적지·화물·정비 확인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· 입력 잠금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60초 · 구매/접기 차단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5초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타이머 강조 · 성에 프레임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운항 정산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· 보수/진행 확정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 갱신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항구 도착 또는 다음 항해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다음 유빙 구간 — 프로필만 다르고 규칙은 같다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표준 프로필  90초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프로필  20초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P1 검토값  8~15분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정산을 보는 동안에도 대기 시간은 흐른다. 앱 종료 중에는 타이머만 진행하며 자동 파쇄·정비 자금·항로 진행은 없다.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 / UX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장면이 도킹·플레이·정산을 모두 맡는다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(taskbar 바로 위)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🚢  등대항 42%   다음 유빙 01:12   12.4K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목적지 · 항로 · 대기 시간 · 정비 자금만 표시  /  팝업·자동 확장·자동 사운드 없음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(준비·플레이·정산 공통 장면)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등대항 항로 │ 00:42 │ 이번 운항 +1,240          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유빙 구간 520×376 — 바다 + 먼 항구 + 뱃머리 + 최대 20개 얼음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진행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전진 점수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빙질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보조 장비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정비 자금 │ 선박 정비 │ 항로 │ 설정 │ 접기          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세계관 설명문·결과 모달 없이 같은 장면을 유지한다 · 작업 중 정비/접기 차단 · 소리 기본 꺼짐 · 포커스 스틸 금지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ART DIRECTION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차가운 바다와 따뜻한 불빛을 한 화풍으로 묶는다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DREDGE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바다 위 실루엣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어두운 해역에서도 배·등대·불빛이 한눈에 읽히는 구도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목적지 불빛과 선박 실루엣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공포 톤은 가져오지 않음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kit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Spiritfarer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따뜻한 사람의 흔적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부드러운 핸드페인팅과 따뜻한 항구가 만드는 정서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차가운 바다 + 주황 창문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감정은 대사보다 환경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kit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FAR: Lone Sails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배가 곧 캐릭터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기계와 선박 장비가 플레이의 중심이 되는 화면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선박 측면도 정비 화면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장비 영역 4곳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page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Wildfrost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작은 화면 가독성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캐주얼 실루엣과 색으로 즉시 구분되는 얼음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68px에서도 T1~T3 구분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도트 대신 부드러운 채색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kit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750">
                <a:solidFill>
                  <a:srgbClr val="4E6578"/>
                </a:solidFill>
              </a:defRPr>
            </a:pPr>
            <a:r>
              <a:rPr sz="750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아트 잠금: 캐주얼 핸드페인팅 게임 화면 × 미형 선장 반신 1장 · 얼음 6실루엣 재사용 · 항구 3종은 거리/안개로 변주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FEEDBACK &amp; AUDIO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파쇄음은 차갑게, 배와 항구는 따뜻하게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5중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 단계 — 타격점에서 3단계로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파편·플래시 — 피해와 파괴 규모를 즉시 표시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크리티컬과 연쇄만 강조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— 확장 화면, 옵션으로 완전 끄기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파열음 — T1은 높게, T3는 낮고 무겁게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오디오 대비 — 차갑게 깨지고, 따뜻하게 도착한다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ICE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SHIP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MUTE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얼음=짧고 선명 · 기관=낮고 안정 · 항구=따뜻한 2음 · 최초 실행은 음소거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60초 오디오 흐름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카운트다운 틱 + 낮은 기관음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타격·연쇄 중심, 큰 연쇄 때 환경음 -4dB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0초 직전 0.1초 전체 사운드 정지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운항 정산음 → 항구 도착 화음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빙질: 짧은 이름 표시 + 발광 + 다른 파열음. 음성 대사는 없고, 일정 부족 시 BGM부터 컷한다.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SCOPE LOCK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P0는 고정 항로 3개를 완주하는 한 게임이다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WINDOW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창·UI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 ↔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960×540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저장 · KO/EN · Windows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60초 · 최대 20개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T1~T3 · 결정빙·균열빙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항로·정비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고정 항로 3개 · 정비 자금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구매 항목 13개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세계 전달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화물 · 항구 3곳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도착 연출 1~2초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ENDING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완주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T3 첫 파괴 → 북쪽 기지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표준 30~60분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게임잼에 잠금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60초 파쇄 · 90초 항해 · 고정 항로 3개 · 정비 3빌드 · 로컬 저장 · 캐주얼 핸드페인팅 화면 · 선장 반신 1장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순서: 키비주얼/BGM → 장식 인부 → 장비 외형 → 거리 단계 → 얼음 실루엣 → 키스톤 3개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플레이테스트 뒤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T4·T5 · 흑빙·서리빙 · 추가 목적지 · 계약 선택 · 분기 항로 · 화물 보정 · macOS · 다국어 · Steam 제품화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기본 제외: 자동 공격 · 앱 종료 중 수익 · 거래 경제 · 선체 HP · 장문 대화 · 물류 시뮬레이션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 PROFILES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표준은 30~60분, 시연은 같은 게임을 빠르게 검증한다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시연 프로필은 난이도 선택이 아니라 같은 코드에 다른 수치 JSON을 적용한 발표용 빌드다.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P0 표준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프로필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60초 · 동일 코드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 유빙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90초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 유빙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 목표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120 / 600 / 2,400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 목표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40 / 120 / 300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비용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기준값 100%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비용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기준값 약 10%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완주 목표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저장 30~60분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리허설 목표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전체 흐름 10분 이내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유빙 화면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유빙 화면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표준과 동일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모든 값은 JSON이 단일 출처다. D10에 ±30% 안에서 조정하며, 공개 설정에는 프로필 전환을 노출하지 않는다.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TECH &amp; OWNERSHIP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셋이 같은 씬을 건드리지 않도록 소유권부터 나눈다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f0e90f0dc4973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공유 계약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RunResult · RouteState · BalanceData · GameEvents — D1 안에 확정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883d623d04ebc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8상태 · 얼음 필드 · 항로 · 정비 · 저장 모듈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251883a234d19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창·UI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— 도킹·확장·DPI · 실패 시 하단 스냅 일반 창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dfa3ac7304eae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데이터·검증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standard/demo JSON · 로컬 저장 · 상태/항로/구매 자동 테스트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파일 소유권 — 충돌을 설계로 차단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9e9e649304b84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개발자 1 — 얼음·입력·특수빙·연쇄·풀링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메인 씬·UI 프리팹 수정 없음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3507603594cfe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개발자 2 — 상태·정산·항로·정비·저장·밸런스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공유 계약과 데이터 소유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9b8e2c2ad4d36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개발자 3 — 창·메인 씬·UI·아트/오디오 임포트·빌드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씬과 프리팹 단일 소유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fa3de7ae54f49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아티스트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.clip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원본 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2× 투명 PNG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합성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임포트는 개발자 3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14-DAY WBS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D5 루프, D8 메타, D11 동결, D13 RC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GO / NO-GO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폴백 + 얼음 20개 + 60fps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공유 계약·스타일 타일 승인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D3~5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수직 슬라이스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60초 작업 → 정산 → 90초 항해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→ 두 번째 작업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D6~8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메타 루프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항로 · 정비 13개 · 저장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UI·아트 1차 통합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D9~11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콘텐츠 완료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T1~T3 · 특수빙 · 항구 3곳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도착·오디오 · D11 동결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D12~14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밸런스 · DPI · KO/EN · RC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클린 PC · 시연 빌드 · 백업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담당 — 동시에 만들어도 충돌하지 않게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개발자 1 파쇄 코어 · 개발자 2 진행/데이터 · 개발자 3 창/UI/통합 · 아티스트 게임 에셋/선장 원화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메인 씬·UI 프리팹·임포트는 개발자 3만 수정. 나머지는 스크립트·데이터·테스트·원본 에셋으로 납품.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통합 규칙 — 최신 실행 빌드가 기준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매일 개발자 1 → 2 → 3 순서로 통합 · 직후 네 명이 10분 핵심 흐름 확인 · D11 이후 신규 기능·에셋 요청 금지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D13 이후에는 차단 버그만 수정. D14 제출물은 standard/demo 빌드·라이선스·조작 안내·백업.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이 게임을 한 문장으로 잠근다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“얼음을 부수면,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끊어진 항로가 다시 이어진다.”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60초 파쇄 · 고정 항로 3개 · 한 척의 마지막 보급선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8a4610f55435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18500737d49d5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D1 첫 행동: 공유 계약 승인 · 스타일 타일 승인 · 도킹/파쇄 프로토타입 시작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2026-07-18T22:31:44.9880000Z</dcterms:created>
  <dcterms:modified xsi:type="dcterms:W3CDTF">2026-07-18T22:31:44.9880000Z</dcterms:modified>
</coreProperties>
</file>